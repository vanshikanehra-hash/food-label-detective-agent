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Risk score (0–100)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dPt>
            <c:idx val="0"/>
            <c:spPr>
              <a:solidFill>
                <a:srgbClr val="1B7F3B"/>
              </a:solidFill>
            </c:spPr>
          </c:dPt>
          <c:dPt>
            <c:idx val="1"/>
            <c:spPr>
              <a:solidFill>
                <a:srgbClr val="C77700"/>
              </a:solidFill>
            </c:spPr>
          </c:dPt>
          <c:dPt>
            <c:idx val="2"/>
            <c:spPr>
              <a:solidFill>
                <a:srgbClr val="C77700"/>
              </a:solidFill>
            </c:spPr>
          </c:dPt>
          <c:dPt>
            <c:idx val="3"/>
            <c:spPr>
              <a:solidFill>
                <a:srgbClr val="B00020"/>
              </a:solidFill>
            </c:spPr>
          </c:dPt>
          <c:dPt>
            <c:idx val="4"/>
            <c:spPr>
              <a:solidFill>
                <a:srgbClr val="B00020"/>
              </a:solidFill>
            </c:spPr>
          </c:dPt>
          <c:cat>
            <c:strRef>
              <c:f>Sheet1!$A$2:$A$6</c:f>
              <c:strCache>
                <c:ptCount val="5"/>
                <c:pt idx="0">
                  <c:v>Rolled Oats</c:v>
                </c:pt>
                <c:pt idx="1">
                  <c:v>Coca-Cola</c:v>
                </c:pt>
                <c:pt idx="2">
                  <c:v>Vegan Bar</c:v>
                </c:pt>
                <c:pt idx="3">
                  <c:v>Maggi Noodles</c:v>
                </c:pt>
                <c:pt idx="4">
                  <c:v>Nutella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31</c:v>
                </c:pt>
                <c:pt idx="2">
                  <c:v>41</c:v>
                </c:pt>
                <c:pt idx="3">
                  <c:v>65</c:v>
                </c:pt>
                <c:pt idx="4">
                  <c:v>75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D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640080"/>
            <a:ext cx="1828800" cy="1828800"/>
          </a:xfrm>
          <a:prstGeom prst="ellipse">
            <a:avLst/>
          </a:prstGeom>
          <a:solidFill>
            <a:srgbClr val="1B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640080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mbria"/>
              </a:rPr>
              <a:t>Food Label Detective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DDECDD"/>
                </a:solidFill>
                <a:latin typeface="Calibri"/>
              </a:rPr>
              <a:t>An agentic AI that reads food labels, explains them in plain English, and flags what matters to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114800"/>
            <a:ext cx="2468880" cy="457200"/>
          </a:xfrm>
          <a:prstGeom prst="roundRect">
            <a:avLst/>
          </a:prstGeom>
          <a:solidFill>
            <a:srgbClr val="1B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Track: Agentic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114800"/>
            <a:ext cx="3291840" cy="457200"/>
          </a:xfrm>
          <a:prstGeom prst="roundRect">
            <a:avLst/>
          </a:prstGeom>
          <a:solidFill>
            <a:srgbClr val="1B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411480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Consumer Safety &amp; Nutrition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4114800"/>
            <a:ext cx="2103120" cy="457200"/>
          </a:xfrm>
          <a:prstGeom prst="roundRect">
            <a:avLst/>
          </a:prstGeom>
          <a:solidFill>
            <a:srgbClr val="1B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4114800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Open Food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715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DECDD"/>
                </a:solidFill>
                <a:latin typeface="Calibri"/>
              </a:rPr>
              <a:t>Capstone Project — Agentic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Team:  Vatsal Jain  ·  Vidit Jain  ·  Vanshika Nehra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7F3B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Food labels are hard to read — and the stakes are personal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1B7F3B"/>
                </a:solidFill>
                <a:latin typeface="Calibri"/>
              </a:rPr>
              <a:t>Cryptic ingredients. </a:t>
            </a:r>
            <a:r>
              <a:rPr sz="1700">
                <a:solidFill>
                  <a:srgbClr val="1F2933"/>
                </a:solidFill>
                <a:latin typeface="Calibri"/>
              </a:rPr>
              <a:t>E-numbers and chemical names mean little to shoppers.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B7F3B"/>
                </a:solidFill>
                <a:latin typeface="Calibri"/>
              </a:rPr>
              <a:t>Hidden allergens. </a:t>
            </a:r>
            <a:r>
              <a:rPr sz="1700">
                <a:solidFill>
                  <a:srgbClr val="1F2933"/>
                </a:solidFill>
                <a:latin typeface="Calibri"/>
              </a:rPr>
              <a:t>Milk, nuts and soy hide inside derivatives and 'traces'.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B7F3B"/>
                </a:solidFill>
                <a:latin typeface="Calibri"/>
              </a:rPr>
              <a:t>Manual diet checks. </a:t>
            </a:r>
            <a:r>
              <a:rPr sz="1700">
                <a:solidFill>
                  <a:srgbClr val="1F2933"/>
                </a:solidFill>
                <a:latin typeface="Calibri"/>
              </a:rPr>
              <a:t>Vegan / low-sugar goals require reading every label.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B7F3B"/>
                </a:solidFill>
                <a:latin typeface="Calibri"/>
              </a:rPr>
              <a:t>Data overload. </a:t>
            </a:r>
            <a:r>
              <a:rPr sz="1700">
                <a:solidFill>
                  <a:srgbClr val="1F2933"/>
                </a:solidFill>
                <a:latin typeface="Calibri"/>
              </a:rPr>
              <a:t>Nutrition tables need arithmetic to judge at a glance.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2011680"/>
            <a:ext cx="5029200" cy="3566160"/>
          </a:xfrm>
          <a:prstGeom prst="roundRect">
            <a:avLst/>
          </a:prstGeom>
          <a:solidFill>
            <a:srgbClr val="ECF4EC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233172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03D22"/>
                </a:solidFill>
                <a:latin typeface="Cambria"/>
              </a:rPr>
              <a:t>Real-world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926080"/>
            <a:ext cx="4389120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B7F3B"/>
                </a:solidFill>
                <a:latin typeface="Calibri"/>
              </a:rPr>
              <a:t>A practical assistant </a:t>
            </a:r>
            <a:r>
              <a:rPr sz="1600">
                <a:solidFill>
                  <a:srgbClr val="1F2933"/>
                </a:solidFill>
                <a:latin typeface="Calibri"/>
              </a:rPr>
              <a:t>for an everyday need.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B7F3B"/>
                </a:solidFill>
                <a:latin typeface="Calibri"/>
              </a:rPr>
              <a:t>Faster, safer choices </a:t>
            </a:r>
            <a:r>
              <a:rPr sz="1600">
                <a:solidFill>
                  <a:srgbClr val="1F2933"/>
                </a:solidFill>
                <a:latin typeface="Calibri"/>
              </a:rPr>
              <a:t>at the shelf.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B7F3B"/>
                </a:solidFill>
                <a:latin typeface="Calibri"/>
              </a:rPr>
              <a:t>Human stays in control </a:t>
            </a:r>
            <a:r>
              <a:rPr sz="1600">
                <a:solidFill>
                  <a:srgbClr val="1F2933"/>
                </a:solidFill>
                <a:latin typeface="Calibri"/>
              </a:rPr>
              <a:t>for sensitive calls.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983480"/>
            <a:ext cx="4389120" cy="502920"/>
          </a:xfrm>
          <a:prstGeom prst="round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4983480"/>
            <a:ext cx="4389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Informs — never decides for you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7F3B"/>
                </a:solidFill>
                <a:latin typeface="Calibri"/>
              </a:rPr>
              <a:t>DATASET &amp; REFERENCE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Live product data, with an offline safety 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5303520" cy="3749039"/>
          </a:xfrm>
          <a:prstGeom prst="roundRect">
            <a:avLst/>
          </a:prstGeom>
          <a:solidFill>
            <a:srgbClr val="F7FAF7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B7F3B"/>
                </a:solidFill>
                <a:latin typeface="Cambria"/>
              </a:rPr>
              <a:t>🌐  Open Food Facts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26080"/>
            <a:ext cx="475488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1B7F3B"/>
                </a:solidFill>
                <a:latin typeface="Calibri"/>
              </a:rPr>
              <a:t>Primary source. </a:t>
            </a:r>
            <a:r>
              <a:rPr sz="1500">
                <a:solidFill>
                  <a:srgbClr val="1F2933"/>
                </a:solidFill>
                <a:latin typeface="Calibri"/>
              </a:rPr>
              <a:t>Live ingredients, allergens, nutrition.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B7F3B"/>
                </a:solidFill>
                <a:latin typeface="Calibri"/>
              </a:rPr>
              <a:t>Rich fields. </a:t>
            </a:r>
            <a:r>
              <a:rPr sz="1500">
                <a:solidFill>
                  <a:srgbClr val="1F2933"/>
                </a:solidFill>
                <a:latin typeface="Calibri"/>
              </a:rPr>
              <a:t>NOVA processing group + Nutri-Score.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B7F3B"/>
                </a:solidFill>
                <a:latin typeface="Calibri"/>
              </a:rPr>
              <a:t>Global. </a:t>
            </a:r>
            <a:r>
              <a:rPr sz="1500">
                <a:solidFill>
                  <a:srgbClr val="1F2933"/>
                </a:solidFill>
                <a:latin typeface="Calibri"/>
              </a:rPr>
              <a:t>Lookup by barcode or product name.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011680"/>
            <a:ext cx="5349240" cy="3749039"/>
          </a:xfrm>
          <a:prstGeom prst="roundRect">
            <a:avLst/>
          </a:prstGeom>
          <a:solidFill>
            <a:srgbClr val="F7FAF7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C77700"/>
                </a:solidFill>
                <a:latin typeface="Cambria"/>
              </a:rPr>
              <a:t>🗂  Synthetic Starter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926080"/>
            <a:ext cx="475488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1B7F3B"/>
                </a:solidFill>
                <a:latin typeface="Calibri"/>
              </a:rPr>
              <a:t>10 products, </a:t>
            </a:r>
            <a:r>
              <a:rPr sz="1500">
                <a:solidFill>
                  <a:srgbClr val="1F2933"/>
                </a:solidFill>
                <a:latin typeface="Calibri"/>
              </a:rPr>
              <a:t>same schema as the API.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B7F3B"/>
                </a:solidFill>
                <a:latin typeface="Calibri"/>
              </a:rPr>
              <a:t>Automatic fallback </a:t>
            </a:r>
            <a:r>
              <a:rPr sz="1500">
                <a:solidFill>
                  <a:srgbClr val="1F2933"/>
                </a:solidFill>
                <a:latin typeface="Calibri"/>
              </a:rPr>
              <a:t>when offline or code missing.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B7F3B"/>
                </a:solidFill>
                <a:latin typeface="Calibri"/>
              </a:rPr>
              <a:t>Deterministic </a:t>
            </a:r>
            <a:r>
              <a:rPr sz="1500">
                <a:solidFill>
                  <a:srgbClr val="1F2933"/>
                </a:solidFill>
                <a:latin typeface="Calibri"/>
              </a:rPr>
              <a:t>— makes the tests reproducible.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Clearly labelled as synthetic starter data · fields: ingredients, allergens, traces, sugar/salt/fat per 100g, NOVA, Nutri-Score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D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DECDD"/>
                </a:solidFill>
                <a:latin typeface="Calibri"/>
              </a:rP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From a barcode to an actionable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86000"/>
            <a:ext cx="1783080" cy="2377440"/>
          </a:xfrm>
          <a:prstGeom prst="roundRect">
            <a:avLst/>
          </a:prstGeom>
          <a:solidFill>
            <a:srgbClr val="1B7F3B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1460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5468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0"/>
            <a:ext cx="1783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DDECDD"/>
                </a:solidFill>
                <a:latin typeface="Calibri"/>
              </a:rPr>
              <a:t>Parse the query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DDECDD"/>
                </a:solidFill>
                <a:latin typeface="Calibri"/>
              </a:rPr>
              <a:t>&amp; user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3063240"/>
            <a:ext cx="256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DDECDD"/>
                </a:solidFill>
                <a:latin typeface="Calibri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50591" y="2286000"/>
            <a:ext cx="1783080" cy="2377440"/>
          </a:xfrm>
          <a:prstGeom prst="roundRect">
            <a:avLst/>
          </a:prstGeom>
          <a:solidFill>
            <a:srgbClr val="248A49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0591" y="251460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0591" y="315468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1" y="3657600"/>
            <a:ext cx="1783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DDECDD"/>
                </a:solidFill>
                <a:latin typeface="Calibri"/>
              </a:rPr>
              <a:t>Request missing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DDECDD"/>
                </a:solidFill>
                <a:latin typeface="Calibri"/>
              </a:rPr>
              <a:t>info if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5384" y="3063240"/>
            <a:ext cx="256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DDECDD"/>
                </a:solidFill>
                <a:latin typeface="Calibri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2286000"/>
            <a:ext cx="1783080" cy="2377440"/>
          </a:xfrm>
          <a:prstGeom prst="roundRect">
            <a:avLst/>
          </a:prstGeom>
          <a:solidFill>
            <a:srgbClr val="1B7F3B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8264" y="251460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315468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Tools +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8264" y="3657600"/>
            <a:ext cx="1783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DDECDD"/>
                </a:solidFill>
                <a:latin typeface="Calibri"/>
              </a:rPr>
              <a:t>Open Food Facts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DDECDD"/>
                </a:solidFill>
                <a:latin typeface="Calibri"/>
              </a:rPr>
              <a:t>+ SQLite prefs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3063240"/>
            <a:ext cx="256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DDECDD"/>
                </a:solidFill>
                <a:latin typeface="Calibri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2286000"/>
            <a:ext cx="1783080" cy="2377440"/>
          </a:xfrm>
          <a:prstGeom prst="roundRect">
            <a:avLst/>
          </a:prstGeom>
          <a:solidFill>
            <a:srgbClr val="248A49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51460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315468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Analyse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657600"/>
            <a:ext cx="1783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DDECDD"/>
                </a:solidFill>
                <a:latin typeface="Calibri"/>
              </a:rPr>
              <a:t>Allergens, additives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DDECDD"/>
                </a:solidFill>
                <a:latin typeface="Calibri"/>
              </a:rPr>
              <a:t>&amp; risk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7" y="3063240"/>
            <a:ext cx="256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DDECDD"/>
                </a:solidFill>
                <a:latin typeface="Calibri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93608" y="2286000"/>
            <a:ext cx="1783080" cy="2377440"/>
          </a:xfrm>
          <a:prstGeom prst="roundRect">
            <a:avLst/>
          </a:prstGeom>
          <a:solidFill>
            <a:srgbClr val="1B7F3B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8" y="251460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315468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Guardrails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3657600"/>
            <a:ext cx="1783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DDECDD"/>
                </a:solidFill>
                <a:latin typeface="Calibri"/>
              </a:rPr>
              <a:t>Alerts, disclaimer,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DDECDD"/>
                </a:solidFill>
                <a:latin typeface="Calibri"/>
              </a:rPr>
              <a:t>human-in-loop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063240"/>
            <a:ext cx="256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DDECDD"/>
                </a:solidFill>
                <a:latin typeface="Calibri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0" y="2286000"/>
            <a:ext cx="1783080" cy="2377440"/>
          </a:xfrm>
          <a:prstGeom prst="roundRect">
            <a:avLst/>
          </a:prstGeom>
          <a:solidFill>
            <a:srgbClr val="248A49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0" y="251460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315468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Explain +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3657600"/>
            <a:ext cx="1783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DDECDD"/>
                </a:solidFill>
                <a:latin typeface="Calibri"/>
              </a:rPr>
              <a:t>Plain English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DDECDD"/>
                </a:solidFill>
                <a:latin typeface="Calibri"/>
              </a:rPr>
              <a:t>+ JSONL trail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DDECDD"/>
                </a:solidFill>
                <a:latin typeface="Calibri"/>
              </a:rPr>
              <a:t>UI (Streamlit / CLI)  →  Agent Controller  →  Tools · Memory · LLM  →  Guardrail Check  →  Final Answer +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7F3B"/>
                </a:solidFill>
                <a:latin typeface="Calibri"/>
              </a:rPr>
              <a:t>AI / AGENT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A real agent — six cooperating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66160" cy="1417320"/>
          </a:xfrm>
          <a:prstGeom prst="roundRect">
            <a:avLst/>
          </a:prstGeom>
          <a:solidFill>
            <a:srgbClr val="F7FAF7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13055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3"/>
                </a:solidFill>
                <a:latin typeface="Calibri"/>
              </a:rPr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6712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3D22"/>
                </a:solidFill>
                <a:latin typeface="Cambria"/>
              </a:rPr>
              <a:t>Clarifying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2432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3"/>
                </a:solidFill>
                <a:latin typeface="Calibri"/>
              </a:rPr>
              <a:t>Asks for a product instead of failing.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65960"/>
            <a:ext cx="3566160" cy="1417320"/>
          </a:xfrm>
          <a:prstGeom prst="roundRect">
            <a:avLst/>
          </a:prstGeom>
          <a:solidFill>
            <a:srgbClr val="F7FAF7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3055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3"/>
                </a:solidFill>
                <a:latin typeface="Calibri"/>
              </a:rPr>
              <a:t>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16712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3D22"/>
                </a:solidFill>
                <a:latin typeface="Cambria"/>
              </a:rPr>
              <a:t>Tool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62432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3"/>
                </a:solidFill>
                <a:latin typeface="Calibri"/>
              </a:rPr>
              <a:t>Calls Open Food Facts + CSV fallback.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65960"/>
            <a:ext cx="3566160" cy="1417320"/>
          </a:xfrm>
          <a:prstGeom prst="roundRect">
            <a:avLst/>
          </a:prstGeom>
          <a:solidFill>
            <a:srgbClr val="F7FAF7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3055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3"/>
                </a:solidFill>
                <a:latin typeface="Calibri"/>
              </a:rP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16712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3D22"/>
                </a:solidFill>
                <a:latin typeface="Cambria"/>
              </a:rPr>
              <a:t>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62432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3"/>
                </a:solidFill>
                <a:latin typeface="Calibri"/>
              </a:rPr>
              <a:t>Remembers diet &amp; allergies in SQLite.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11880"/>
            <a:ext cx="3566160" cy="1417320"/>
          </a:xfrm>
          <a:prstGeom prst="roundRect">
            <a:avLst/>
          </a:prstGeom>
          <a:solidFill>
            <a:srgbClr val="F7FAF7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77647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3"/>
                </a:solidFill>
                <a:latin typeface="Calibri"/>
              </a:rPr>
              <a:t>⚖️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1304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3D22"/>
                </a:solidFill>
                <a:latin typeface="Cambria"/>
              </a:rPr>
              <a:t>Reasoning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27024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3"/>
                </a:solidFill>
                <a:latin typeface="Calibri"/>
              </a:rPr>
              <a:t>Transparent 0–100 risk score, itemised.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611880"/>
            <a:ext cx="3566160" cy="1417320"/>
          </a:xfrm>
          <a:prstGeom prst="roundRect">
            <a:avLst/>
          </a:prstGeom>
          <a:solidFill>
            <a:srgbClr val="F7FAF7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77647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3"/>
                </a:solidFill>
                <a:latin typeface="Calibri"/>
              </a:rPr>
              <a:t>🛡️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81304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3D22"/>
                </a:solidFill>
                <a:latin typeface="Cambria"/>
              </a:rPr>
              <a:t>Guardrails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427024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3"/>
                </a:solidFill>
                <a:latin typeface="Calibri"/>
              </a:rPr>
              <a:t>Allergy alerts, disclaimer, human-in-loop.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611880"/>
            <a:ext cx="3566160" cy="1417320"/>
          </a:xfrm>
          <a:prstGeom prst="roundRect">
            <a:avLst/>
          </a:prstGeom>
          <a:solidFill>
            <a:srgbClr val="F7FAF7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77647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3"/>
                </a:solidFill>
                <a:latin typeface="Calibri"/>
              </a:rPr>
              <a:t>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81304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3D22"/>
                </a:solidFill>
                <a:latin typeface="Cambria"/>
              </a:rPr>
              <a:t>LLM explanation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27024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3"/>
                </a:solidFill>
                <a:latin typeface="Calibri"/>
              </a:rPr>
              <a:t>Claude writes plain English (template fallback).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394960"/>
            <a:ext cx="10908792" cy="685800"/>
          </a:xfrm>
          <a:prstGeom prst="roundRect">
            <a:avLst/>
          </a:prstGeom>
          <a:solidFill>
            <a:srgbClr val="EC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94960"/>
            <a:ext cx="10424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103D22"/>
                </a:solidFill>
                <a:latin typeface="Calibri"/>
              </a:rPr>
              <a:t>Why AI here?  The LLM makes technical data understandable, while the rule-based engine keeps safety-critical logic auditable — AI where it adds value, not for decoration.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7F3B"/>
                </a:solidFill>
                <a:latin typeface="Calibri"/>
              </a:rPr>
              <a:t>PROTOTYPE 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The result card — real output for a milk-allergic vegan 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6675120" cy="4434840"/>
          </a:xfrm>
          <a:prstGeom prst="roundRect">
            <a:avLst/>
          </a:prstGeom>
          <a:solidFill>
            <a:srgbClr val="F7FAF7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6675120" cy="502920"/>
          </a:xfrm>
          <a:prstGeom prst="roundRect">
            <a:avLst/>
          </a:prstGeom>
          <a:solidFill>
            <a:srgbClr val="103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5943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🕵️  Food Label Detective  ·  query: “Nutella”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F2933"/>
                </a:solidFill>
                <a:latin typeface="Cambria"/>
              </a:rPr>
              <a:t>Nutella Hazelnut Spread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063240"/>
            <a:ext cx="1920240" cy="457200"/>
          </a:xfrm>
          <a:prstGeom prst="roundRect">
            <a:avLst/>
          </a:prstGeom>
          <a:solidFill>
            <a:srgbClr val="B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🚫 BEST AVOIDED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06324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libri"/>
              </a:rPr>
              <a:t>Risk score  75 / 100  (high)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657600"/>
            <a:ext cx="6035040" cy="566928"/>
          </a:xfrm>
          <a:prstGeom prst="roundRect">
            <a:avLst/>
          </a:prstGeom>
          <a:solidFill>
            <a:srgbClr val="FB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657600"/>
            <a:ext cx="5760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00020"/>
                </a:solidFill>
                <a:latin typeface="Calibri"/>
              </a:rPr>
              <a:t>⚠  ALLERGY ALERT: may contain milk, which you asked to avoid.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434840"/>
            <a:ext cx="585216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1B7F3B"/>
                </a:solidFill>
                <a:latin typeface="Calibri"/>
              </a:rPr>
              <a:t>Not vegan-friendly </a:t>
            </a:r>
            <a:r>
              <a:rPr sz="1300">
                <a:solidFill>
                  <a:srgbClr val="1F2933"/>
                </a:solidFill>
                <a:latin typeface="Calibri"/>
              </a:rPr>
              <a:t>— contains milk.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B7F3B"/>
                </a:solidFill>
                <a:latin typeface="Calibri"/>
              </a:rPr>
              <a:t>High in sugar, </a:t>
            </a:r>
            <a:r>
              <a:rPr sz="1300">
                <a:solidFill>
                  <a:srgbClr val="1F2933"/>
                </a:solidFill>
                <a:latin typeface="Calibri"/>
              </a:rPr>
              <a:t>saturated fat &amp; total fat.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B7F3B"/>
                </a:solidFill>
                <a:latin typeface="Calibri"/>
              </a:rPr>
              <a:t>Additive: </a:t>
            </a:r>
            <a:r>
              <a:rPr sz="1300">
                <a:solidFill>
                  <a:srgbClr val="1F2933"/>
                </a:solidFill>
                <a:latin typeface="Calibri"/>
              </a:rPr>
              <a:t>palm oil.  Ultra-processed (NOVA 4).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B7F3B"/>
                </a:solidFill>
                <a:latin typeface="Calibri"/>
              </a:rPr>
              <a:t>Recommendation: </a:t>
            </a:r>
            <a:r>
              <a:rPr sz="1300">
                <a:solidFill>
                  <a:srgbClr val="1F2933"/>
                </a:solidFill>
                <a:latin typeface="Calibri"/>
              </a:rPr>
              <a:t>best avoided given your settings.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874519"/>
            <a:ext cx="4023360" cy="4434840"/>
          </a:xfrm>
          <a:prstGeom prst="roundRect">
            <a:avLst/>
          </a:prstGeom>
          <a:solidFill>
            <a:srgbClr val="ECF4EC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214884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03D22"/>
                </a:solidFill>
                <a:latin typeface="Cambria"/>
              </a:rPr>
              <a:t>Runs anywhere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743200"/>
            <a:ext cx="3474720" cy="2194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1B7F3B"/>
                </a:solidFill>
                <a:latin typeface="Calibri"/>
              </a:rPr>
              <a:t>Streamlit UI </a:t>
            </a:r>
            <a:r>
              <a:rPr sz="1350">
                <a:solidFill>
                  <a:srgbClr val="1F2933"/>
                </a:solidFill>
                <a:latin typeface="Calibri"/>
              </a:rPr>
              <a:t>+ full CLI.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B7F3B"/>
                </a:solidFill>
                <a:latin typeface="Calibri"/>
              </a:rPr>
              <a:t>Zero-setup: </a:t>
            </a:r>
            <a:r>
              <a:rPr sz="1350">
                <a:solidFill>
                  <a:srgbClr val="1F2933"/>
                </a:solidFill>
                <a:latin typeface="Calibri"/>
              </a:rPr>
              <a:t>works with no API key.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B7F3B"/>
                </a:solidFill>
                <a:latin typeface="Calibri"/>
              </a:rPr>
              <a:t>Set </a:t>
            </a:r>
            <a:r>
              <a:rPr sz="1350">
                <a:solidFill>
                  <a:srgbClr val="1F2933"/>
                </a:solidFill>
                <a:latin typeface="Calibri"/>
              </a:rPr>
              <a:t>ANTHROPIC_API_KEY for Claude.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B7F3B"/>
                </a:solidFill>
                <a:latin typeface="Calibri"/>
              </a:rPr>
              <a:t>Every score </a:t>
            </a:r>
            <a:r>
              <a:rPr sz="1350">
                <a:solidFill>
                  <a:srgbClr val="1F2933"/>
                </a:solidFill>
                <a:latin typeface="Calibri"/>
              </a:rPr>
              <a:t>shown, never a black box.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5394960"/>
            <a:ext cx="3474720" cy="548640"/>
          </a:xfrm>
          <a:prstGeom prst="round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5394960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make the final call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7F3B"/>
                </a:solidFill>
                <a:latin typeface="Calibri"/>
              </a:rPr>
              <a:t>RESULTS &amp; SAMPLE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Correct risk bands across live &amp; synthetic products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965960"/>
          <a:ext cx="58521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766560" y="2057400"/>
            <a:ext cx="4754880" cy="566928"/>
          </a:xfrm>
          <a:prstGeom prst="rect">
            <a:avLst/>
          </a:prstGeom>
          <a:solidFill>
            <a:srgbClr val="103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205740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2057400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78440" y="2057400"/>
            <a:ext cx="1097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Advice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2624328"/>
            <a:ext cx="4754880" cy="566928"/>
          </a:xfrm>
          <a:prstGeom prst="rect">
            <a:avLst/>
          </a:prstGeom>
          <a:solidFill>
            <a:srgbClr val="EC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2624328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933"/>
                </a:solidFill>
                <a:latin typeface="Calibri"/>
              </a:rPr>
              <a:t>Nutella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2624328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933"/>
                </a:solidFill>
                <a:latin typeface="Calibri"/>
              </a:rPr>
              <a:t>synthetic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2624328"/>
            <a:ext cx="1097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00020"/>
                </a:solidFill>
                <a:latin typeface="Calibri"/>
              </a:rPr>
              <a:t>avoid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3191256"/>
            <a:ext cx="4754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3191256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933"/>
                </a:solidFill>
                <a:latin typeface="Calibri"/>
              </a:rPr>
              <a:t>Rolled Oats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3191256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933"/>
                </a:solidFill>
                <a:latin typeface="Calibri"/>
              </a:rPr>
              <a:t>synthetic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78440" y="3191256"/>
            <a:ext cx="1097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7F3B"/>
                </a:solidFill>
                <a:latin typeface="Calibri"/>
              </a:rPr>
              <a:t>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758183"/>
            <a:ext cx="4754880" cy="566928"/>
          </a:xfrm>
          <a:prstGeom prst="rect">
            <a:avLst/>
          </a:prstGeom>
          <a:solidFill>
            <a:srgbClr val="EC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3758183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933"/>
                </a:solidFill>
                <a:latin typeface="Calibri"/>
              </a:rPr>
              <a:t>Coca-Cola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758183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933"/>
                </a:solidFill>
                <a:latin typeface="Calibri"/>
              </a:rPr>
              <a:t>live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8440" y="3758183"/>
            <a:ext cx="1097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77700"/>
                </a:solidFill>
                <a:latin typeface="Calibri"/>
              </a:rPr>
              <a:t>moderate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325112"/>
            <a:ext cx="4754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4325112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933"/>
                </a:solidFill>
                <a:latin typeface="Calibri"/>
              </a:rPr>
              <a:t>Vegan Protein Bar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4325112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933"/>
                </a:solidFill>
                <a:latin typeface="Calibri"/>
              </a:rPr>
              <a:t>synthetic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4325112"/>
            <a:ext cx="1097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00020"/>
                </a:solidFill>
                <a:latin typeface="Calibri"/>
              </a:rPr>
              <a:t>avoid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4892040"/>
            <a:ext cx="4754880" cy="566928"/>
          </a:xfrm>
          <a:prstGeom prst="rect">
            <a:avLst/>
          </a:prstGeom>
          <a:solidFill>
            <a:srgbClr val="EC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489204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933"/>
                </a:solidFill>
                <a:latin typeface="Calibri"/>
              </a:rPr>
              <a:t>Maggi Noodles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4892040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933"/>
                </a:solidFill>
                <a:latin typeface="Calibri"/>
              </a:rPr>
              <a:t>live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4892040"/>
            <a:ext cx="1097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00020"/>
                </a:solidFill>
                <a:latin typeface="Calibri"/>
              </a:rPr>
              <a:t>avoid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806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7F3B"/>
                </a:solidFill>
                <a:latin typeface="Calibri"/>
              </a:rPr>
              <a:t>10 / 10 scenario tests pass  ·  runs verified offline &amp; against live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77700"/>
                </a:solidFill>
                <a:latin typeface="Calibri"/>
              </a:rPr>
              <a:t>LIMITATIONS &amp;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Honest about what it can’t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5486400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500"/>
              </a:spcAft>
            </a:pPr>
            <a:r>
              <a:rPr sz="1600" b="1">
                <a:solidFill>
                  <a:srgbClr val="1B7F3B"/>
                </a:solidFill>
                <a:latin typeface="Calibri"/>
              </a:rPr>
              <a:t>Crowd-sourced data. </a:t>
            </a:r>
            <a:r>
              <a:rPr sz="1600">
                <a:solidFill>
                  <a:srgbClr val="1F2933"/>
                </a:solidFill>
                <a:latin typeface="Calibri"/>
              </a:rPr>
              <a:t>Some products have gaps — flagged, not guessed.</a:t>
            </a:r>
          </a:p>
          <a:p>
            <a:pPr>
              <a:spcAft>
                <a:spcPts val="1500"/>
              </a:spcAft>
            </a:pPr>
            <a:r>
              <a:rPr sz="1600" b="1">
                <a:solidFill>
                  <a:srgbClr val="1B7F3B"/>
                </a:solidFill>
                <a:latin typeface="Calibri"/>
              </a:rPr>
              <a:t>Keyword detection. </a:t>
            </a:r>
            <a:r>
              <a:rPr sz="1600">
                <a:solidFill>
                  <a:srgbClr val="1F2933"/>
                </a:solidFill>
                <a:latin typeface="Calibri"/>
              </a:rPr>
              <a:t>Can miss unusual ingredient names.</a:t>
            </a:r>
          </a:p>
          <a:p>
            <a:pPr>
              <a:spcAft>
                <a:spcPts val="1500"/>
              </a:spcAft>
            </a:pPr>
            <a:r>
              <a:rPr sz="1600" b="1">
                <a:solidFill>
                  <a:srgbClr val="1B7F3B"/>
                </a:solidFill>
                <a:latin typeface="Calibri"/>
              </a:rPr>
              <a:t>General thresholds. </a:t>
            </a:r>
            <a:r>
              <a:rPr sz="1600">
                <a:solidFill>
                  <a:srgbClr val="1F2933"/>
                </a:solidFill>
                <a:latin typeface="Calibri"/>
              </a:rPr>
              <a:t>Not personalised medical advice.</a:t>
            </a:r>
          </a:p>
          <a:p>
            <a:pPr>
              <a:spcAft>
                <a:spcPts val="1500"/>
              </a:spcAft>
            </a:pPr>
            <a:r>
              <a:rPr sz="1600" b="1">
                <a:solidFill>
                  <a:srgbClr val="1B7F3B"/>
                </a:solidFill>
                <a:latin typeface="Calibri"/>
              </a:rPr>
              <a:t>LLM dependence. </a:t>
            </a:r>
            <a:r>
              <a:rPr sz="1600">
                <a:solidFill>
                  <a:srgbClr val="1F2933"/>
                </a:solidFill>
                <a:latin typeface="Calibri"/>
              </a:rPr>
              <a:t>Richest explanations need an API key.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011680"/>
            <a:ext cx="5120640" cy="3840480"/>
          </a:xfrm>
          <a:prstGeom prst="roundRect">
            <a:avLst/>
          </a:prstGeom>
          <a:solidFill>
            <a:srgbClr val="FBF3E7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77700"/>
                </a:solidFill>
                <a:latin typeface="Cambria"/>
              </a:rPr>
              <a:t>🛡  Responsible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88036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1F2933"/>
                </a:solidFill>
                <a:latin typeface="Calibri"/>
              </a:rPr>
              <a:t>This tool provides general information from food labels only. It is NOT medical or dietary advice.</a:t>
            </a:r>
          </a:p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1F29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1F2933"/>
                </a:solidFill>
                <a:latin typeface="Calibri"/>
              </a:rPr>
              <a:t>People with allergies must confirm against the physical package. The agent never guarantees a product is safe — the final decision always stays with the human.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7F3B"/>
                </a:solidFill>
                <a:latin typeface="Calibri"/>
              </a:rP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Where it goes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66160" cy="1463040"/>
          </a:xfrm>
          <a:prstGeom prst="roundRect">
            <a:avLst/>
          </a:prstGeom>
          <a:solidFill>
            <a:srgbClr val="F7FAF7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1488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1F2933"/>
                </a:solidFill>
                <a:latin typeface="Calibri"/>
              </a:rPr>
              <a:t>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9456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3D22"/>
                </a:solidFill>
                <a:latin typeface="Cambria"/>
              </a:rPr>
              <a:t>Label OCR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51760"/>
            <a:ext cx="2468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3"/>
                </a:solidFill>
                <a:latin typeface="Calibri"/>
              </a:rPr>
              <a:t>Read a photo of a label for products not in the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65960"/>
            <a:ext cx="3566160" cy="1463040"/>
          </a:xfrm>
          <a:prstGeom prst="roundRect">
            <a:avLst/>
          </a:prstGeom>
          <a:solidFill>
            <a:srgbClr val="F7FAF7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488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1F2933"/>
                </a:solidFill>
                <a:latin typeface="Calibri"/>
              </a:rPr>
              <a:t>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19456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3D22"/>
                </a:solidFill>
                <a:latin typeface="Cambria"/>
              </a:rPr>
              <a:t>Barcode scanning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651760"/>
            <a:ext cx="2468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3"/>
                </a:solidFill>
                <a:latin typeface="Calibri"/>
              </a:rPr>
              <a:t>Scan directly from the phone camera in the UI.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65960"/>
            <a:ext cx="3566160" cy="1463040"/>
          </a:xfrm>
          <a:prstGeom prst="roundRect">
            <a:avLst/>
          </a:prstGeom>
          <a:solidFill>
            <a:srgbClr val="F7FAF7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488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1F2933"/>
                </a:solidFill>
                <a:latin typeface="Calibri"/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19456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3D22"/>
                </a:solidFill>
                <a:latin typeface="Cambria"/>
              </a:rPr>
              <a:t>Personalised limits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651760"/>
            <a:ext cx="2468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3"/>
                </a:solidFill>
                <a:latin typeface="Calibri"/>
              </a:rPr>
              <a:t>e.g. diabetic-specific sugar thresholds.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3566160" cy="1463040"/>
          </a:xfrm>
          <a:prstGeom prst="roundRect">
            <a:avLst/>
          </a:prstGeom>
          <a:solidFill>
            <a:srgbClr val="F7FAF7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8404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1F2933"/>
                </a:solidFill>
                <a:latin typeface="Calibri"/>
              </a:rPr>
              <a:t>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862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3D22"/>
                </a:solidFill>
                <a:latin typeface="Cambria"/>
              </a:rPr>
              <a:t>Cited guidance (RAG)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343400"/>
            <a:ext cx="2468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3"/>
                </a:solidFill>
                <a:latin typeface="Calibri"/>
              </a:rPr>
              <a:t>Vector store of nutrition sources for richer answers.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657600"/>
            <a:ext cx="3566160" cy="1463040"/>
          </a:xfrm>
          <a:prstGeom prst="roundRect">
            <a:avLst/>
          </a:prstGeom>
          <a:solidFill>
            <a:srgbClr val="F7FAF7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8404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1F2933"/>
                </a:solidFill>
                <a:latin typeface="Calibri"/>
              </a:rPr>
              <a:t>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8862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3D22"/>
                </a:solidFill>
                <a:latin typeface="Cambria"/>
              </a:rPr>
              <a:t>Multi-language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4343400"/>
            <a:ext cx="2468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3"/>
                </a:solidFill>
                <a:latin typeface="Calibri"/>
              </a:rPr>
              <a:t>Explanations in the user's language.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657600"/>
            <a:ext cx="3566160" cy="1463040"/>
          </a:xfrm>
          <a:prstGeom prst="roundRect">
            <a:avLst/>
          </a:prstGeom>
          <a:solidFill>
            <a:srgbClr val="F7FAF7"/>
          </a:solidFill>
          <a:ln>
            <a:noFill/>
          </a:ln>
          <a:effectLst/>
          <a:effectLst>
            <a:outerShdw blurRad="60000" dist="25000" dir="5400000" rotWithShape="0">
              <a:srgbClr val="1F29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8404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1F2933"/>
                </a:solidFill>
                <a:latin typeface="Calibri"/>
              </a:rPr>
              <a:t>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8862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3D22"/>
                </a:solidFill>
                <a:latin typeface="Cambria"/>
              </a:rPr>
              <a:t>History &amp; compare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343400"/>
            <a:ext cx="2468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3"/>
                </a:solidFill>
                <a:latin typeface="Calibri"/>
              </a:rPr>
              <a:t>Track scanned products and compare alternatives.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D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640080"/>
            <a:ext cx="1828800" cy="1828800"/>
          </a:xfrm>
          <a:prstGeom prst="ellipse">
            <a:avLst/>
          </a:prstGeom>
          <a:solidFill>
            <a:srgbClr val="1B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640080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Trustworthy and understandable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918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DECDD"/>
                </a:solidFill>
                <a:latin typeface="Calibri"/>
              </a:rPr>
              <a:t>A complete agentic workflow — input → tools &amp; memory → guardrailed, explained output with logs. An auditable rule-based safety engine paired with an LLM explainer, keeping humans in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846320"/>
            <a:ext cx="2926080" cy="502920"/>
          </a:xfrm>
          <a:prstGeom prst="roundRect">
            <a:avLst/>
          </a:prstGeom>
          <a:solidFill>
            <a:srgbClr val="1B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846320"/>
            <a:ext cx="2926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10/10 tests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4846320"/>
            <a:ext cx="3108960" cy="502920"/>
          </a:xfrm>
          <a:prstGeom prst="roundRect">
            <a:avLst/>
          </a:prstGeom>
          <a:solidFill>
            <a:srgbClr val="1B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4846320"/>
            <a:ext cx="3108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Live + offline 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4846320"/>
            <a:ext cx="3291840" cy="502920"/>
          </a:xfrm>
          <a:prstGeom prst="roundRect">
            <a:avLst/>
          </a:prstGeom>
          <a:solidFill>
            <a:srgbClr val="1B7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4846320"/>
            <a:ext cx="3291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Responsible by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Thank you  ·  Vatsal Jain · Vidit Jain · Vanshika Nehra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